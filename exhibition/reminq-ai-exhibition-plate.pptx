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Inter Tight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F172A"/>
                </a:solidFill>
                <a:latin typeface="Inter Tight"/>
              </a:rPr>
              <a:t>Reminq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38404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38404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Inter Tight"/>
              </a:rPr>
              <a:t>●  </a:t>
            </a:r>
            <a:r>
              <a:rPr sz="900" b="1">
                <a:solidFill>
                  <a:srgbClr val="94A3B8"/>
                </a:solidFill>
                <a:latin typeface="Inter Tight"/>
              </a:rPr>
              <a:t>EXHIBIT  </a:t>
            </a:r>
            <a:r>
              <a:rPr sz="1000" b="1">
                <a:solidFill>
                  <a:srgbClr val="0F172A"/>
                </a:solidFill>
                <a:latin typeface="Noto Sans JP"/>
              </a:rPr>
              <a:t>生成AIなんでも展示会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Inter Tight"/>
              </a:rPr>
              <a:t>AI × </a:t>
            </a:r>
            <a:r>
              <a:rPr sz="1100" b="1">
                <a:solidFill>
                  <a:srgbClr val="475569"/>
                </a:solidFill>
                <a:latin typeface="Noto Sans JP"/>
              </a:rPr>
              <a:t>Apple リマインダー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8686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F172A"/>
                </a:solidFill>
                <a:latin typeface="Noto Sans JP"/>
              </a:rPr>
              <a:t>リマインダーを、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2563EB"/>
                </a:solidFill>
                <a:latin typeface="Noto Sans JP"/>
              </a:rPr>
              <a:t>AI が読み解く。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39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75569"/>
                </a:solidFill>
                <a:latin typeface="Noto Sans JP"/>
              </a:rPr>
              <a:t>Apple のリマインダーを AI が分析。曖昧で大きなタスクを「動ける単位」に分解し、優先度まで提案する iOS / iPadOS / macOS アプリ。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234440"/>
            <a:ext cx="33375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234440"/>
            <a:ext cx="3337560" cy="27432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271016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Inter"/>
              </a:rPr>
              <a:t>reminq · ai-breakdown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132588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41664" y="13258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06256" y="132588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77072" y="1645920"/>
            <a:ext cx="3008376" cy="365760"/>
          </a:xfrm>
          <a:prstGeom prst="roundRect">
            <a:avLst>
              <a:gd name="adj" fmla="val 3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6459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Inter Tight"/>
              </a:rPr>
              <a:t>▍</a:t>
            </a:r>
            <a:r>
              <a:rPr sz="1200" b="1">
                <a:solidFill>
                  <a:srgbClr val="0F172A"/>
                </a:solidFill>
                <a:latin typeface="Noto Sans JP"/>
              </a:rPr>
              <a:t> 資料を作る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2103120"/>
            <a:ext cx="30083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Inter Tight"/>
              </a:rPr>
              <a:t>↓ </a:t>
            </a:r>
            <a:r>
              <a:rPr sz="900" b="1">
                <a:solidFill>
                  <a:srgbClr val="94A3B8"/>
                </a:solidFill>
                <a:latin typeface="Noto Sans JP"/>
              </a:rPr>
              <a:t>AI が分解した実行ステップ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2468880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96528" y="24231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0F172A"/>
                </a:solidFill>
                <a:latin typeface="Noto Sans JP"/>
              </a:rPr>
              <a:t>目次を 5 行で書き出す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045952" y="245973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4597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Inter Tight"/>
              </a:rPr>
              <a:t>High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2761488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96528" y="27157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0F172A"/>
                </a:solidFill>
                <a:latin typeface="Noto Sans JP"/>
              </a:rPr>
              <a:t>参考資料を 3 件集める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45952" y="2752344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45952" y="27523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Inter Tight"/>
              </a:rPr>
              <a:t>Mid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305409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96528" y="30083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0F172A"/>
                </a:solidFill>
                <a:latin typeface="Noto Sans JP"/>
              </a:rPr>
              <a:t>結論スライドを 1 枚先に作る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045952" y="3044952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45952" y="304495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Inter Tight"/>
              </a:rPr>
              <a:t>High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346704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96528" y="330098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0F172A"/>
                </a:solidFill>
                <a:latin typeface="Noto Sans JP"/>
              </a:rPr>
              <a:t>空白スライドにタイトルだけ並べる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045952" y="3337560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333756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Inter Tight"/>
              </a:rPr>
              <a:t>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703320"/>
            <a:ext cx="370332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703320"/>
            <a:ext cx="54864" cy="2331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3904488"/>
            <a:ext cx="31912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Inter Tight"/>
              </a:rPr>
              <a:t>01</a:t>
            </a:r>
            <a:r>
              <a:rPr sz="1600" b="1">
                <a:solidFill>
                  <a:srgbClr val="0F172A"/>
                </a:solidFill>
                <a:latin typeface="Noto Sans JP"/>
              </a:rPr>
              <a:t>   AI タスク分解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" y="4306824"/>
            <a:ext cx="3191256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" y="4416552"/>
            <a:ext cx="31912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0F172A"/>
                </a:solidFill>
                <a:latin typeface="Noto Sans JP"/>
              </a:rPr>
              <a:t>「資料を作る」のような曖昧で大きな1行を、実行可能な小ステップ群に展開。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" y="5074920"/>
            <a:ext cx="3191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563EB"/>
                </a:solidFill>
                <a:latin typeface="Inter Tight"/>
              </a:rPr>
              <a:t>WHERE  AI を使う場所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" y="5276088"/>
            <a:ext cx="31912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75569"/>
                </a:solidFill>
                <a:latin typeface="Noto Sans JP"/>
              </a:rPr>
              <a:t>入力タスク文字列 → OpenAI Chat Completions API → 構造化レスポンス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" y="5577839"/>
            <a:ext cx="3191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563EB"/>
                </a:solidFill>
                <a:latin typeface="Inter Tight"/>
              </a:rPr>
              <a:t>EFFECT  効果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" y="5779007"/>
            <a:ext cx="31912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75569"/>
                </a:solidFill>
                <a:latin typeface="Noto Sans JP"/>
              </a:rPr>
              <a:t>「最初の一歩」が常に提示される — 着手率が上がり、つまずく時点を後ろにずらせる。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25112" y="3703320"/>
            <a:ext cx="370332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25112" y="3703320"/>
            <a:ext cx="54864" cy="2331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81144" y="3904488"/>
            <a:ext cx="31912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Inter Tight"/>
              </a:rPr>
              <a:t>02</a:t>
            </a:r>
            <a:r>
              <a:rPr sz="1600" b="1">
                <a:solidFill>
                  <a:srgbClr val="0F172A"/>
                </a:solidFill>
                <a:latin typeface="Noto Sans JP"/>
              </a:rPr>
              <a:t>   優先度ラベリング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81144" y="4306824"/>
            <a:ext cx="3191256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81144" y="4416552"/>
            <a:ext cx="31912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0F172A"/>
                </a:solidFill>
                <a:latin typeface="Noto Sans JP"/>
              </a:rPr>
              <a:t>分解した各ステップに High / Mid / Low の優先度を AI が同時付与。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81144" y="5074920"/>
            <a:ext cx="3191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563EB"/>
                </a:solidFill>
                <a:latin typeface="Inter Tight"/>
              </a:rPr>
              <a:t>WHERE  AI を使う場所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81144" y="5276088"/>
            <a:ext cx="31912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75569"/>
                </a:solidFill>
                <a:latin typeface="Noto Sans JP"/>
              </a:rPr>
              <a:t>分解レスポンスの priority フィールドを 1 回の生成で同時出力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81144" y="5577839"/>
            <a:ext cx="3191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563EB"/>
                </a:solidFill>
                <a:latin typeface="Inter Tight"/>
              </a:rPr>
              <a:t>EFFECT  効果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81144" y="5779007"/>
            <a:ext cx="31912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75569"/>
                </a:solidFill>
                <a:latin typeface="Noto Sans JP"/>
              </a:rPr>
              <a:t>フラットなリストでは「自分で考えて」だった粒度・順序判断に AI が下案を提示。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47304" y="3703320"/>
            <a:ext cx="370332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47304" y="3703320"/>
            <a:ext cx="54864" cy="2331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03336" y="3904488"/>
            <a:ext cx="31912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Inter Tight"/>
              </a:rPr>
              <a:t>03</a:t>
            </a:r>
            <a:r>
              <a:rPr sz="1600" b="1">
                <a:solidFill>
                  <a:srgbClr val="0F172A"/>
                </a:solidFill>
                <a:latin typeface="Noto Sans JP"/>
              </a:rPr>
              <a:t>   Human-in-the-loop 設計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03336" y="4306824"/>
            <a:ext cx="3191256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03336" y="4416552"/>
            <a:ext cx="31912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0F172A"/>
                </a:solidFill>
                <a:latin typeface="Noto Sans JP"/>
              </a:rPr>
              <a:t>提案はチェックボックスで採用したものだけが Apple リマインダーへ静かに反映。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03336" y="5074920"/>
            <a:ext cx="3191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563EB"/>
                </a:solidFill>
                <a:latin typeface="Inter Tight"/>
              </a:rPr>
              <a:t>WHERE  AI を使う場所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03336" y="5276088"/>
            <a:ext cx="31912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75569"/>
                </a:solidFill>
                <a:latin typeface="Noto Sans JP"/>
              </a:rPr>
              <a:t>AI = 提案担当 / 人間 = 最終決定。BYO API キーで端末→OpenAI 直通、中継なし。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03336" y="5577839"/>
            <a:ext cx="3191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563EB"/>
                </a:solidFill>
                <a:latin typeface="Inter Tight"/>
              </a:rPr>
              <a:t>EFFECT  効果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03336" y="5779007"/>
            <a:ext cx="31912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475569"/>
                </a:solidFill>
                <a:latin typeface="Noto Sans JP"/>
              </a:rPr>
              <a:t>AI 出力をそのまま受けない設計。誤りに強く、データは Apple リマインダーに留まる。</a:t>
            </a:r>
          </a:p>
        </p:txBody>
      </p:sp>
      <p:pic>
        <p:nvPicPr>
          <p:cNvPr id="64" name="Picture 63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236208"/>
            <a:ext cx="502920" cy="50292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115568" y="6227064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94A3B8"/>
                </a:solidFill>
                <a:latin typeface="Noto Sans JP"/>
              </a:rPr>
              <a:t>詳しくは サポートサイトへ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0F172A"/>
                </a:solidFill>
                <a:latin typeface="Inter"/>
              </a:rPr>
              <a:t>tichise.github.io/reminq-support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577840" y="63550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77840" y="635508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F172A"/>
                </a:solidFill>
                <a:latin typeface="Inter Tight"/>
              </a:rPr>
              <a:t>iOS 26+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702552" y="63550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02552" y="635508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F172A"/>
                </a:solidFill>
                <a:latin typeface="Inter Tight"/>
              </a:rPr>
              <a:t>iPadOS 26+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827264" y="63550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27264" y="635508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F172A"/>
                </a:solidFill>
                <a:latin typeface="Inter Tight"/>
              </a:rPr>
              <a:t>macOS 26+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51976" y="63550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51976" y="635508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4ED8"/>
                </a:solidFill>
                <a:latin typeface="Noto Sans JP"/>
              </a:rPr>
              <a:t>完全無料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635508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Inter Tight"/>
              </a:rPr>
              <a:t>Reminders, read by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